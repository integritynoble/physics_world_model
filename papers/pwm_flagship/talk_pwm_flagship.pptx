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Eleven Primitives and Three Gates: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90D9"/>
                </a:solidFill>
                <a:latin typeface="Calibri"/>
              </a:defRPr>
            </a:pPr>
            <a:r>
              <a:t>The Universal Structure of Computational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BB"/>
                </a:solidFill>
                <a:latin typeface="Calibri"/>
              </a:defRPr>
            </a:pPr>
            <a:r>
              <a:t>Chengshuai Yang, David J. Brady, Xin Yuan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NextGen PlatformAI C Corp  |  University of Arizona  |  Westlake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Talk for Prof. Yuan's Group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Talk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~40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1.  Motivation: Why do reconstruction algorithms fail on real instruments?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2.  Key Idea: 11 primitives + 3 gates = universal grammar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3.  The Finite Primitive Basis Theorem (Theorem 1)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OperatorGraph representation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- 11 canonical primitives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Basis-growth saturation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4.  The Triad Decomposition (Theorem 2)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Three gates: Recoverability, Carrier Budget, Operator Mismatch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Four-Scenario evaluation protocol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5.  Experimental Validation (12 modalities, 5 carrier families)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CASSI deep dive + hardware validation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 - Cross-carrier results: CT, MRI, cryo-EM, ultrasound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6.  Discussion and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Silent Reconstruction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Computational imaging has made enormous progress in algorithms: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Compressed sensing, Plug-and-Play, deep unrolling, vision transformers...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But algorithms routinely fail on deployed instruments.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The root cause is often NOT the algorithm --- it's the forward model.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When the assumed operator H_nom differs from the true physics H_true,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the solver faithfully solves the WRONG problem.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This failure is silent and systematic: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Produces structured artifacts that mimic signal content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Practitioners blame the solver, not the model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No general framework to diagnose or fix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Diverse Systems, Shared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A coded-aperture camera, an MRI scanner, and a cryo-electron microscope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appear to share nothing: different carriers, geometries, detectors.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Yet each converts a physical scene into measurements by composing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a small chain of transformations: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   propagation  -&gt;  interaction  -&gt;  encoding  -&gt;  detection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Key insight: This universality is not accidental --- it reflects the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finite structure of physical measurement processes.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Question: Can we formalize this?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What are the minimal building blocks?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  - Why do reconstructions fail, and how to diagnose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Answer: 11 Primitives + 3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A universal grammar for computational imaging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E8F0FE"/>
          </a:solidFill>
          <a:ln>
            <a:solidFill>
              <a:srgbClr val="2E5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5FA1"/>
                </a:solidFill>
                <a:latin typeface="Calibri"/>
              </a:defRPr>
            </a:pPr>
            <a:r>
              <a:t>Theorem 1: Finite Primitive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Every imaging forward model decomposes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into a DAG over exactly 11 primitives.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Sufficient + Minimal basis.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Covers all 5 carrier families.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170 modalities validated.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560320"/>
          </a:xfrm>
          <a:prstGeom prst="roundRect">
            <a:avLst/>
          </a:prstGeom>
          <a:solidFill>
            <a:srgbClr val="FEF0E8"/>
          </a:solidFill>
          <a:ln>
            <a:solidFill>
              <a:srgbClr val="E87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12B"/>
                </a:solidFill>
                <a:latin typeface="Calibri"/>
              </a:defRPr>
            </a:pPr>
            <a:r>
              <a:t>Theorem 2: Triad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Every reconstruction failure has exactly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3 independent root causes (gates):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Gate 1: Information deficiency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Gate 2: Carrier noise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Gate 3: Operator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Together: a compositional language for designing, diagnosing, and correcting ANY imaging system.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Validation: 12 modalities, 5 carrier families, +0.8 to +13.9 dB recovery on real instruments.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1: The Universal Grammar of Computational Imaging</a:t>
            </a:r>
          </a:p>
        </p:txBody>
      </p:sp>
      <p:pic>
        <p:nvPicPr>
          <p:cNvPr id="4" name="Picture 3" descr="fig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A90D9"/>
                </a:solidFill>
                <a:latin typeface="Calibri"/>
              </a:defRPr>
            </a:pPr>
            <a: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Finite Primitive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  <a:latin typeface="Calibri"/>
              </a:defRPr>
            </a:pPr>
            <a:r>
              <a:t>Every imaging forward model decomposes into a DAG over exactly 11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OperatorGraph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Every imaging forward model encoded as a typed DAG: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Each node wraps a single primitive physical operator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Edges define data flow from source to detector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Every primitive implements: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forward(x) -&gt; y    (physics simulation)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adjoint(y) -&gt; x    (validated: &lt;Hx,y&gt; = &lt;x,H*y&gt;)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Key properties: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Adjoint consistency: randomized dot-product test, delta &lt; 10^-6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Lipschitz bounds: nonlinear primitives restricted to 5 canonical families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- Not a universal approximator (unlike neural networks)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This makes reconstruction both interpretable and certifiable.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11 Canonical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FA1"/>
                </a:solidFill>
                <a:latin typeface="Consolas"/>
              </a:defRPr>
            </a:pPr>
            <a:r>
              <a:t>  #    Primitive       Notation          Physical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1    Propagate       P(d, lambda)       Free-space wave propagation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2    Modulate        M(m)              Element-wise multiplication (mask, coil, absorption)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3    Project         Pi(theta)          Radon line-integral projection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4    Encode          F(k)              Fourier-domain encoding (k-space)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5    Convolve        C(h)              Spatial convolution (PSF)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6    Accumulate      Sigma             Summation over spectral/temporal axis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7    Detect          D(g, eta)          Detector response (5 canonical families)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8    Sample          S(Omega)          Sub-sampling on index set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9    Disperse        W(alpha, a)        Wavelength-dependent spatial shift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10    Scatter         R(sigma, dE)       Direction change and/or energy shift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11    Transform       Lambda(f, theta)   Pointwise nonlinear physics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6B6B6B"/>
                </a:solidFill>
                <a:latin typeface="Calibri"/>
              </a:defRPr>
            </a:pPr>
            <a:r>
              <a:t>9 linear primitives (have adjoint) + 2 nonlinear (Detect, Transform)</a:t>
            </a:r>
          </a:p>
          <a:p>
            <a:pPr>
              <a:spcAft>
                <a:spcPts val="200"/>
              </a:spcAft>
              <a:defRPr sz="1500">
                <a:solidFill>
                  <a:srgbClr val="6B6B6B"/>
                </a:solidFill>
                <a:latin typeface="Calibri"/>
              </a:defRPr>
            </a:pPr>
            <a:r>
              <a:t>Detect: 5 families (linear-field, log, sigmoid, intensity |x|^2, coherent) -- max 2 params each</a:t>
            </a:r>
          </a:p>
          <a:p>
            <a:pPr>
              <a:spcAft>
                <a:spcPts val="200"/>
              </a:spcAft>
              <a:defRPr sz="1500">
                <a:solidFill>
                  <a:srgbClr val="6B6B6B"/>
                </a:solidFill>
                <a:latin typeface="Calibri"/>
              </a:defRPr>
            </a:pPr>
            <a:r>
              <a:t>Transform: 5 families (Beer-Lambert, log, phase wrap, polynomial, saturation) -- bounded Lipschitz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2: OperatorGraph DAGs + Fidelity Ladder + Basis Growth</a:t>
            </a:r>
          </a:p>
        </p:txBody>
      </p:sp>
      <p:pic>
        <p:nvPicPr>
          <p:cNvPr id="4" name="Picture 3" descr="fig2_operator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DAG Decompositions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CASSI (photon):       M -&gt; W -&gt; Sigma -&gt; D         (4 nodes, depth 4)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mask * disperse * sum_spectral * detect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CT (X-ray):           Pi -&gt; D                       (2 nodes, depth 2)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radon_project * detect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MRI (nuclear spin):   M -&gt; F -&gt; S -&gt; D              (4 nodes, depth 4)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coil_modulate * fourier_encode * k-space_sample * detect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Ptychography (e-):    M -&gt; P -&gt; D                   (3 nodes, depth 3)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probe_modulate * fresnel_propagate * detect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Ultrasound:           P -&gt; Sigma -&gt; D               (3 nodes, depth 3)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wave_propagate * delay_sum * detect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Median: 3 nodes, depth 3.  Max observed: 5 nodes, depth 5.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Theoretical bounds: N_max = 20, D_max = 10 (very conservative).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Theorem 1: Finite Primitive Basis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2286000"/>
          </a:xfrm>
          <a:prstGeom prst="roundRect">
            <a:avLst/>
          </a:prstGeom>
          <a:solidFill>
            <a:srgbClr val="E8F0FE"/>
          </a:solidFill>
          <a:ln>
            <a:solidFill>
              <a:srgbClr val="2E5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For every H in C_img (the imaging operator class),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there exists a typed DAG G with nodes from B = {P, M, Pi, F, C, Sigma, D, S, W, R, Lambda}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that is an epsilon-approximate representation of H.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The library B has exactly 11 elements and is minimal: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removing any primitive leaves at least one modality with error &gt; epsilon.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Proof sketch: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1. H = H_K ... H_1 with K &lt;= N_max stages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2. Each stage classified into 6 physics families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3. Each family mapped to 1-2 primitives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4. Linear composition: sub-multiplicative error ||H - H_G|| &lt;= K * max(eps_k) * B^(K-1)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5. Nonlinear: Lipschitz bound ||H(x) - H_G(x)|| &lt;= sum eps_k * prod gamma_j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Minimality: 8 primitives strictly necessary; 3 more needed under complexity bounds.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Witness modality for each removal (e.g., without Pi, CT has e_img &gt;&gt; 0.01).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Decomposition Results: All e_img &lt; 0.01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Full-validation modalities (12 with 4-scenario correction):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CASSI (photon):      M-&gt;W-&gt;Sigma-&gt;D        e &lt; 10^-4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CACTI (photon):      M-&gt;Sigma-&gt;D            e &lt; 10^-4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CT (X-ray):          Pi-&gt;D                   e &lt; 10^-5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MRI (spin):          M-&gt;F-&gt;S-&gt;D              e &lt; 10^-6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Ptychography (e-):   M-&gt;P-&gt;D                 e = 4.2x10^-4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+ 7 more modalities (lensless, SPC, fluorescence, holography, CBCT, cryo-EM, ultrasound)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Held-out modalities (frozen library, 0 new primitives):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OCT, photoacoustic, SIM, phase-contrast X-ray, electron ptychography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All pass: e_img &lt; 0.01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Exotic modalities: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Ghost imaging, THz-TDS, Compton*, Raman, fluorescence, DOT, Brillouin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*Compton triggered extension protocol: e=0.34 without Scatter R -&gt; e&lt;0.01 with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Basis-Growth Saturation: K=11 Suffices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9 of 11 primitives introduced by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first 10 modalities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K = 11 at N = 35 modalities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No new primitive for next 135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Sublinear, saturating growth: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New modalities compose existing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primitives rather than requiring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new ones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Consistent with theorem: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Once all 6 physics-stage families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are covered, basis is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A90D9"/>
                </a:solidFill>
                <a:latin typeface="Calibri"/>
              </a:defRPr>
            </a:pPr>
            <a: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Triad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  <a:latin typeface="Calibri"/>
              </a:defRPr>
            </a:pPr>
            <a:r>
              <a:t>Every reconstruction failure has exactly 3 independent root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Exactly Three Gates?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The reconstruction pipeline has exactly 3 inputs: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1. A sensing geometry H  --&gt;  determines what information is captured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2. A physical carrier      --&gt;  determines the noise floor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3. A forward model H_nom  --&gt;  what the solver inverts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Any reconstruction error must trace to one of these: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Gate 1: Information never captured (null space of H)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Gate 2: Information captured but corrupted (carrier noise)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Gate 3: Information captured but misinterpreted (H_nom != H_true)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This trichotomy is exhaustive: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  MSE &lt;= MSE^(G1) + MSE^(G2) + MSE^(G3)     (no residual term)</a:t>
            </a: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A1A2E"/>
                </a:solidFill>
                <a:latin typeface="Calibri"/>
              </a:defRPr>
            </a:pPr>
            <a:r>
              <a:t>Solver suboptimality is subsumed by Gate 3 (solver's implicit model).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Three Gates in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E0EE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D9"/>
                </a:solidFill>
                <a:latin typeface="Calibri"/>
              </a:defRPr>
            </a:pPr>
            <a:r>
              <a:t>Gate 1: Recoverability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Is enough information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captured?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Compression ratio gamma=m/n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Null space dimension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PSNR ceiling from theory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Fix: acquire more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AF0E0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838"/>
                </a:solidFill>
                <a:latin typeface="Calibri"/>
              </a:defRPr>
            </a:pPr>
            <a:r>
              <a:t>Gate 2: Carrier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Is the SNR sufficient?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Shot noise (photon counting)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Thermal noise (electronic)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T1/T2 relaxation (MRI)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Fix: source/detector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 improvement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FAE0E0"/>
          </a:solidFill>
          <a:ln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4A4A"/>
                </a:solidFill>
                <a:latin typeface="Calibri"/>
              </a:defRPr>
            </a:pPr>
            <a:r>
              <a:t>Gate 3: Operator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Does H_nom match H_true?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Geometric misalignment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Parameter drift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simplification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Fix: calibration /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 operator correction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E8FEE8"/>
          </a:solidFill>
          <a:ln>
            <a:solidFill>
              <a:srgbClr val="3D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9E3F"/>
                </a:solidFill>
                <a:latin typeface="Calibri"/>
              </a:defRPr>
            </a:pPr>
            <a:r>
              <a:t>Key Insight: Gate 3 dominates in well-designed instruments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Gates 1 &amp; 2 are addressed at design time (sampling geometry, carrier selection).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Gate 3 (operator mismatch) is the deployment-stage bottleneck: 14/14 configurations show Gate 3 dominant.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This is why algorithms often fail on real instruments: the model is wrong, not the solver.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The Triad tells you WHERE the error is, and WHAT to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3: Triad Decomposition Validated Across All Carriers</a:t>
            </a:r>
          </a:p>
        </p:txBody>
      </p:sp>
      <p:pic>
        <p:nvPicPr>
          <p:cNvPr id="4" name="Picture 3" descr="fig3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Evaluation: The Four-Scenario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Every modality evaluated under 4 standardized scenarios: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Scenario I  (Ideal):     y = H_true * x,  reconstruct with H_true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     --&gt; Oracle upper bound. Best possible quality.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Scenario II (Mismatch):  y = H_true * x,  reconstruct with H_nom (H_nom != H_true)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     --&gt; Standard operating condition. The model is WRONG.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Scenario III (Oracle):   Same y as Sc. II, reconstruct with H_true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     --&gt; Correction ceiling. What's achievable if you knew the truth.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Scenario IV (Corrected): Same y as Sc. II, reconstruct with H_hat (estimated)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     --&gt; Our contribution. Autonomous calibration recovers quality.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Recovery ratio: rho = (PSNR_IV - PSNR_II) / (PSNR_I - PSNR_II)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rho=0: calibration useless.  rho=1: fully closes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A90D9"/>
                </a:solidFill>
                <a:latin typeface="Calibri"/>
              </a:defRPr>
            </a:pPr>
            <a: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  <a:latin typeface="Calibri"/>
              </a:defRPr>
            </a:pPr>
            <a:r>
              <a:t>12 modalities, 5 carrier families, +0.8 to +13.9 dB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4: Correction Results Across 14 Configurations</a:t>
            </a:r>
          </a:p>
        </p:txBody>
      </p:sp>
      <p:pic>
        <p:nvPicPr>
          <p:cNvPr id="4" name="Picture 3" descr="fig4_correc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18872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14 configurations across 5 carriers: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Optical photons: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CASSI: +6.68 dB (10 scenes)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CACTI: +4.37 dB (6 videos)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SPC: +2.31 dB (11 images)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Lensless: +13.9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Holography: +7.41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Fluorescence: +0.80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X-ray: CT +3.10 dB, CBCT +5.0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Electron: Ptycho +6.77 dB, Cryo +2.4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Spin: MRI +2.5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Acoustic: Ultrasound +1.8 dB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Gate 3 dominant in ALL 14/14 cases!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CASSI Deep Dive: Coded Aperture Spectral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CASSI forward model:  M(mask) -&gt; W(dispersion) -&gt; Sigma(spectral sum) -&gt; D(detect)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5-parameter mismatch model: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(dx, dy, theta, a1, alpha) = spatial shifts + rotation + dispersion slope + axis angle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True values: dx=0.5 px, dy=0.3 px, theta=0.1 deg, a1=2.02, alpha=0.15 deg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Correction algorithms: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Algorithm 1: Hierarchical beam search (~300s/scene)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1D sweeps -&gt; 3D beam search -&gt; 2D beam search -&gt; coordinate descent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Accuracy: +/-0.1-0.2 pixels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Algorithm 2: Joint gradient refinement (~3200s/scene)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Differentiable forward model + Adam optimizer + multi-start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Accuracy: +/-0.05-0.1 pixels (3-5x improvement)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Both are SOLVER-AGNOSTIC: corrected operator benefits any downstream solver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(TwIST, GAP-TV, DGSMP, MST-L, CST-L) without retraining!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5: CASSI Results + Hardware Validation</a:t>
            </a:r>
          </a:p>
        </p:txBody>
      </p:sp>
      <p:pic>
        <p:nvPicPr>
          <p:cNvPr id="4" name="Picture 3" descr="fig5_deep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5029200"/>
          </a:xfrm>
          <a:prstGeom prst="rect">
            <a:avLst/>
          </a:prstGeom>
        </p:spPr>
      </p:pic>
      <p:pic>
        <p:nvPicPr>
          <p:cNvPr id="5" name="Picture 4" descr="fig5_hard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Cross-Carrier Validation: 5 Carrier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OPTICAL PHOTONS (6 modalities):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CASSI:  Sc.II = 27.63 dB -&gt; Sc.IV = 34.31 dB  (recovery ratio 0.95)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CACTI:  +4.37 dB correction, EfficientSCI solver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SPC:    3 compression ratios (10%, 25%, 50%), exponential gain drift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X-RAY PHOTONS (2 modalities):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CT: center-of-rotation offset correction, FBP + SART solvers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CBCT: detector offset, 5 real images (LoDoPaB-CT, FIPS, HTC)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ELECTRONS (2 modalities):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Ptychography: probe position jitter correction via ePIE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Cryo-EM: defocus error correction, CTF-based Wiener filtering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NUCLEAR SPINS (1 modality):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MRI: coil sensitivity error correction, ESPIRiT calibration adopted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ACOUSTIC WAVES (1 modality):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Ultrasound: speed-of-sound error correction, delay-and-sum beamforming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6: Cross-Carrier Zero-Shot Generalization</a:t>
            </a:r>
          </a:p>
        </p:txBody>
      </p:sp>
      <p:pic>
        <p:nvPicPr>
          <p:cNvPr id="4" name="Picture 3" descr="fig6_zero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Figure 8: Visual Comparison Across All Scenarios</a:t>
            </a:r>
          </a:p>
        </p:txBody>
      </p:sp>
      <p:pic>
        <p:nvPicPr>
          <p:cNvPr id="4" name="Picture 3" descr="fig8_visu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Property: Solver-Agnostic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Critical distinction from previous work: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Traditional approach:  Fix the algorithm (better solver, more training data)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Our approach:          Fix the operator (calibrate H_nom -&gt; H_true)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The corrected operator benefits ANY downstream solver: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TwIST, GAP-TV (optimization-based)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DGSMP, MST-L, CST-L, HDNet (deep learning)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All improve without retraining!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Why this matters: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Solver design and operator correction are orthogonal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Better solvers + better operators = compounding gains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One calibration serves the entire solver ecosystem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Relationship to Prof. Yuan's SCI work: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The SCI framework unifies coded-aperture modalities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Our 11 primitives provide the structural explanation of why SCI works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Gate 3 analysis extends SCI to deployment-stage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Discussion and Broader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What this paper establishes: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1. Universal structure: 11 primitives cover 170+ modalities (all 5 carrier families)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2. Complete diagnosis: 3 gates exhaust all root causes of reconstruction failure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3. Actionable correction: +0.8 to +13.9 dB on 12 validated modalities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Relationship to existing work: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Not a better solver: COMSOL/FEniCS solve single problems better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Complementary: fixes the operator so that ANY solver works better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Extends SCI (Yuan et al.) from optical to all 5 carrier families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Generalization beyond imaging: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Seismology: wave propagation + attenuation + sensor response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Radio astronomy: aperture synthesis + ionospheric distortion + noise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Particle physics: interaction model + detector response + pile-up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All exhibit the same 3-gate failure structure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Limitation: formal proof in companion paper [yang2026fpt]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2E5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11 Primitives (Theorem 1):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Every imaging forward model = DAG over 11 primitives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Minimal, sufficient, covers 170 modalities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Basis-growth saturates at K=11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EF0E8"/>
          </a:solidFill>
          <a:ln>
            <a:solidFill>
              <a:srgbClr val="E87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3 Gates (Theorem 2):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Every failure = G1 (info) + G2 (noise) + G3 (mismatch)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Gate 3 dominates in deployed instruments (14/14)</a:t>
            </a:r>
          </a:p>
          <a:p>
            <a:pPr>
              <a:spcAft>
                <a:spcPts val="2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Autonomous correction: +0.8 to +13.9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11247120" cy="2743200"/>
          </a:xfrm>
          <a:prstGeom prst="roundRect">
            <a:avLst/>
          </a:prstGeom>
          <a:solidFill>
            <a:srgbClr val="E8FEE8"/>
          </a:solidFill>
          <a:ln>
            <a:solidFill>
              <a:srgbClr val="3D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Key Numbers: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- 11 primitives, minimal and sufficient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- 3 gates, exhaustive decomposition (MSE = MSE_G1 + MSE_G2 + MSE_G3)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- 170 modality templates, 5 carrier families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- 12 modalities with full 4-scenario validation (including 2 Nobel Prize techniques)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+0.8 to +13.9 dB recovery on deployed instruments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Gate 3 dominant in 14/14 validated configurations (100%)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- Solver-agnostic: one calibration benefits all downstream solvers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The first universal grammar for designing, diagnosing, and correcting</a:t>
            </a:r>
          </a:p>
          <a:p>
            <a:pPr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computational imaging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90D9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  <a:latin typeface="Calibri"/>
              </a:defRPr>
            </a:pPr>
            <a:r>
              <a:t>Chengshuai Yang  |  integrityyang@gmail.com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  <a:latin typeface="Calibri"/>
              </a:defRPr>
            </a:pPr>
            <a:r>
              <a:t>Code: github.com/integritynoble/Physics_World_Model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  <a:latin typeface="Calibri"/>
              </a:defRPr>
            </a:pPr>
            <a:r>
              <a:t>Acknowledgments: Prof. David Brady (U. Arizona), Prof. Xin Yuan (Westlake)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