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Eleven Primitives and Three Gates: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4A90D9"/>
                </a:solidFill>
                <a:latin typeface="Calibri"/>
              </a:defRPr>
            </a:pPr>
            <a:r>
              <a:t>The Universal Structure of Computational Imaging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BBBB"/>
                </a:solidFill>
                <a:latin typeface="Calibri"/>
              </a:defRPr>
            </a:pPr>
            <a:r>
              <a:t>Chengshuai Yang, David J. Brady, Xin Yuan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NextGen PlatformAI  |  University of Arizona  |  Westlake University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846320"/>
            <a:ext cx="2743200" cy="822960"/>
          </a:xfrm>
          <a:prstGeom prst="roundRect">
            <a:avLst/>
          </a:prstGeom>
          <a:solidFill>
            <a:srgbClr val="1E3A5F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892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A90D9"/>
                </a:solidFill>
                <a:latin typeface="Calibri"/>
              </a:defRPr>
            </a:pPr>
            <a:r>
              <a:t>DIAGNOSE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846320"/>
            <a:ext cx="2743200" cy="822960"/>
          </a:xfrm>
          <a:prstGeom prst="roundRect">
            <a:avLst/>
          </a:prstGeom>
          <a:solidFill>
            <a:srgbClr val="3A1E1E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4892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D94A4A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846320"/>
            <a:ext cx="2743200" cy="822960"/>
          </a:xfrm>
          <a:prstGeom prst="roundRect">
            <a:avLst/>
          </a:prstGeom>
          <a:solidFill>
            <a:srgbClr val="1E3A1E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4892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D9E3F"/>
                </a:solidFill>
                <a:latin typeface="Calibri"/>
              </a:defRPr>
            </a:pPr>
            <a:r>
              <a:t>DESIGN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  <a:latin typeface="Calibri"/>
              </a:defRPr>
            </a:pPr>
            <a:r>
              <a:t>Talk for Prof. Yuan's Group  |  March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1/32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Talk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DDFF"/>
                </a:solidFill>
                <a:latin typeface="Calibri"/>
              </a:defRPr>
            </a:pPr>
            <a:r>
              <a:t>~40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1.  Motivation: Why do real systems fail? How to design new ones? (5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2.  Our Answer: 11 Primitives + 3 Gates (5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3.  The Finite Primitive Basis (Theorem 1) (7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    OperatorGraph, 11 primitives, DAG examples, basis saturation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4.  The Triad Decomposition (Theorem 2) (5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    Three gates, lifecycle prediction, four-scenario protocol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5.  Application 1: DIAGNOSE existing systems (3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6.  Application 2: CORRECT existing systems (5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    CASSI deep dive, cross-carrier results (+0.8 to +13.9 dB)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7.  Application 3: DESIGN NEW systems (7 min)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    Gates as design specs, primitive composition, design exploration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8.  Discussion and Future Directions (3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2/32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Motivation: Two Open Problems in Computational Imaging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486400" cy="4572000"/>
          </a:xfrm>
          <a:prstGeom prst="roundRect">
            <a:avLst/>
          </a:prstGeom>
          <a:solidFill>
            <a:srgbClr val="FAE8E8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4A4A"/>
                </a:solidFill>
                <a:latin typeface="Calibri"/>
              </a:defRPr>
            </a:pPr>
            <a:r>
              <a:t>Problem 1: Why Do Real Systems Fail?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Algorithms keep advancing: CS -&gt; PnP -&gt; Unrolling -&gt; Transformers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Yet they routinely fail on deployed systems.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Root cause: forward model mismatch (H_nom != H_true)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Solver faithfully solves the WRONG problem.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Failures are silent, systematic, universal.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Per-modality calibration exists but NO universal framework.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188720"/>
            <a:ext cx="5486400" cy="4572000"/>
          </a:xfrm>
          <a:prstGeom prst="roundRect">
            <a:avLst/>
          </a:prstGeom>
          <a:solidFill>
            <a:srgbClr val="E0FAE0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D9E3F"/>
                </a:solidFill>
                <a:latin typeface="Calibri"/>
              </a:defRPr>
            </a:pPr>
            <a:r>
              <a:t>Problem 2: How to Design New Systems?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Designing a new system is an open-ended, intuition-driven search.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No common language across modalities (CT, MRI, CASSI...).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Key unknowns at design time: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- How many measurements are enough?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- What photon budget is needed?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- How precise must calibration be?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No way to evaluate BEFORE hardware fabrication.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5943600"/>
            <a:ext cx="11430000" cy="548640"/>
          </a:xfrm>
          <a:prstGeom prst="roundRect">
            <a:avLst/>
          </a:prstGeom>
          <a:solidFill>
            <a:srgbClr val="E0EEFA"/>
          </a:solidFill>
          <a:ln>
            <a:solidFill>
              <a:srgbClr val="2E5F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2E5FA1"/>
                </a:solidFill>
                <a:latin typeface="Calibri"/>
              </a:defRPr>
            </a:pPr>
            <a:r>
              <a:t>Our answer: 11 Primitives + 3 Gates = universal grammar to DIAGNOSE, CORRECT, and DESIGN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3/32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Diverse Systems, Hidden Universality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5 carrier families: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Optical photons (CASSI, CACTI, SPC...)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X-ray photons (CT, CBCT)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Electrons (ptychography, cryo-EM)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Nuclear spins (MRI)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Acoustic waves (ultrasound)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All share the same pipeline: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source -&gt; propagation -&gt; interaction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   -&gt; encoding -&gt; detection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This universality is NOT accidental.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It reflects the finite structure of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physical measurement processes.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Three fundamental questions: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Q1: What are the minimal building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blocks of imaging physics?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--&gt; 11 Primitives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Q2: Why do reconstructions fail?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--&gt; 3 Gates (exhaustive diagnosis)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Q3: Can we use this to design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NEW imaging systems?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--&gt; YES: compositional design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from primitives + gate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4/32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Answer: A Universal Grammar for Computational Imaging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474720" cy="3200400"/>
          </a:xfrm>
          <a:prstGeom prst="roundRect">
            <a:avLst/>
          </a:prstGeom>
          <a:solidFill>
            <a:srgbClr val="E0EE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A90D9"/>
                </a:solidFill>
                <a:latin typeface="Calibri"/>
              </a:defRPr>
            </a:pPr>
            <a:r>
              <a:t>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Existing Instruments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Triad diagnoses the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dominant failure gate: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- Gate 1: not enough info?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- Gate 2: too much noise?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- Gate 3: wrong model?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Tells you WHERE the dB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are hiding.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474720" cy="3200400"/>
          </a:xfrm>
          <a:prstGeom prst="roundRect">
            <a:avLst/>
          </a:prstGeom>
          <a:solidFill>
            <a:srgbClr val="FAE0E0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94A4A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Existing Instruments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Solver-agnostic correction: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fix the operator, not solver.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Any solver benefits without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retraining: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GAP-TV, MST-L, HDNet...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+0.8 to +13.9 dB recovery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across 5 carrier families.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280160"/>
            <a:ext cx="3474720" cy="3200400"/>
          </a:xfrm>
          <a:prstGeom prst="roundRect">
            <a:avLst/>
          </a:prstGeom>
          <a:solidFill>
            <a:srgbClr val="E0FAE0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D9E3F"/>
                </a:solidFill>
                <a:latin typeface="Calibri"/>
              </a:defRPr>
            </a:pPr>
            <a:r>
              <a:t>DESIGN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82880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New Instruments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Compositional design language: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select primitives, connect DAG,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evaluate gates BEFORE building.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Gate 1: min sampling density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Gate 2: min carrier budget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Gate 3: max calibration error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From task to hardware specs.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11338560" cy="1645920"/>
          </a:xfrm>
          <a:prstGeom prst="roundRect">
            <a:avLst/>
          </a:prstGeom>
          <a:solidFill>
            <a:srgbClr val="F0F0F8"/>
          </a:solidFill>
          <a:ln>
            <a:solidFill>
              <a:srgbClr val="2E5F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5FA1"/>
                </a:solidFill>
                <a:latin typeface="Calibri"/>
              </a:defRPr>
            </a:pPr>
            <a:r>
              <a:t>Theorem 1: Finite Primitive Basis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12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Every forward model = DAG over 11 primitives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Sufficient, minimal, covers 170 modalities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712B"/>
                </a:solidFill>
                <a:latin typeface="Calibri"/>
              </a:defRPr>
            </a:pPr>
            <a:r>
              <a:t>Theorem 2: Triad Decomposition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212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Every failure = G1 + G2 + G3 (exhaustive)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Gate 3 dominant in deployed systems (14/14)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5/32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1: Universal Grammar --- Validate, Correct, and Design New</a:t>
            </a:r>
          </a:p>
        </p:txBody>
      </p:sp>
      <p:pic>
        <p:nvPicPr>
          <p:cNvPr id="4" name="Picture 3" descr="fig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6/32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A90D9"/>
                </a:solidFill>
                <a:latin typeface="Calibri"/>
              </a:defRPr>
            </a:pPr>
            <a:r>
              <a:t>THEOREM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Finite Primitive Basis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6B6B"/>
                </a:solidFill>
                <a:latin typeface="Calibri"/>
              </a:defRPr>
            </a:pPr>
            <a:r>
              <a:t>Every imaging forward model decomposes into a DAG over exactly 11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7/32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OperatorGraph Intermediate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Every imaging forward model encoded as a typed DAG: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Each node wraps a single primitive physical operator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Edges define data flow from source to detector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Each edge carries tensor shape + dtype metadata (static validation)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Every linear primitive implements: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forward(x) -&gt; y    (physics simulation)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adjoint(y) -&gt; x    (validated: &lt;Hx,y&gt; = &lt;x,H*y&gt; to delta &lt; 10^-6)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Mathematical safety rails (NOT a neural network):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Adjoint consistency: physical energy accounting certificate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Lipschitz bounds: nonlinear primitives restricted to 5 canonical families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  - Not a universal approximator --&gt; falsifiable, interpretable, certifiable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If a new modality can't be represented --&gt; extension protocol fires</a:t>
            </a:r>
          </a:p>
          <a:p>
            <a:pPr>
              <a:spcAft>
                <a:spcPts val="600"/>
              </a:spcAft>
              <a:defRPr sz="1900">
                <a:solidFill>
                  <a:srgbClr val="1A1A2E"/>
                </a:solidFill>
                <a:latin typeface="Calibri"/>
              </a:defRPr>
            </a:pPr>
            <a:r>
              <a:t>(This is how Scatter R was discovered when Compton imaging gave e=0.34)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8/32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11 Canonical Primitives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5FA1"/>
                </a:solidFill>
                <a:latin typeface="Consolas"/>
              </a:defRPr>
            </a:pPr>
            <a:r>
              <a:t>  #    Primitive       Notation            Physical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1    Propagate       P(d, lambda)         Free-space wave propagation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2    Modulate        M(m)                Element-wise multiplication (mask, coil)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3    Project         Pi(theta)            Radon line-integral projection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4    Encode          F(k)                Fourier-domain encoding (k-space)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5    Convolve        C(h)                Spatial convolution (PSF)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6    Accumulate      Sigma               Sum over spectral/temporal axis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7    Detect          D(g, eta)            Detector response (5 families)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8    Sample          S(Omega)            Sub-sampling on index set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 9    Disperse        W(alpha, a)          Wavelength-dependent shift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10    Scatter         R(sigma, dE)         Direction change / energy shift</a:t>
            </a:r>
          </a:p>
          <a:p>
            <a:pPr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 11    Transform       Lambda(f, theta)     Pointwise nonlinear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6B6B6B"/>
                </a:solidFill>
                <a:latin typeface="Calibri"/>
              </a:defRPr>
            </a:pPr>
            <a:r>
              <a:t>6 physics-stage families: propagation, elastic interaction, inelastic interaction (scatter),</a:t>
            </a:r>
          </a:p>
          <a:p>
            <a:pPr>
              <a:spcAft>
                <a:spcPts val="200"/>
              </a:spcAft>
              <a:defRPr sz="1500">
                <a:solidFill>
                  <a:srgbClr val="6B6B6B"/>
                </a:solidFill>
                <a:latin typeface="Calibri"/>
              </a:defRPr>
            </a:pPr>
            <a:r>
              <a:t>   pointwise nonlinear, encoding-projection, detection-readout</a:t>
            </a:r>
          </a:p>
          <a:p>
            <a:pPr>
              <a:spcAft>
                <a:spcPts val="200"/>
              </a:spcAft>
              <a:defRPr sz="1500">
                <a:solidFill>
                  <a:srgbClr val="6B6B6B"/>
                </a:solidFill>
                <a:latin typeface="Calibri"/>
              </a:defRPr>
            </a:pPr>
            <a:r>
              <a:t>Minimal basis: removing any primitive leaves &gt;= 1 modality with error &gt; epsilon</a:t>
            </a:r>
          </a:p>
          <a:p>
            <a:pPr>
              <a:spcAft>
                <a:spcPts val="200"/>
              </a:spcAft>
              <a:defRPr sz="1500">
                <a:solidFill>
                  <a:srgbClr val="6B6B6B"/>
                </a:solidFill>
                <a:latin typeface="Calibri"/>
              </a:defRPr>
            </a:pPr>
            <a:r>
              <a:t>Covers 170 modalities across 5 carrier families + particle beams (neutron, proton, muon 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9/32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2: OperatorGraph DAGs, Fidelity Ladder, Basis Growth</a:t>
            </a:r>
          </a:p>
        </p:txBody>
      </p:sp>
      <p:pic>
        <p:nvPicPr>
          <p:cNvPr id="4" name="Picture 3" descr="fig2_operator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10/32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DAG Decompositions: Same Language, Every Carrier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Optical photons: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CASSI:  M -&gt; W -&gt; Sigma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CACTI:  M -&gt; Sigma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SPC:    M -&gt; Sigma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Lensless: C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X-ray photons: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CT:     Pi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CBCT:   Pi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Electrons: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Ptycho: M -&gt; P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Cryo:   P -&gt; Lambda -&gt;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Nuclear spins: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MRI:    M -&gt; F -&gt; S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Acoustic waves: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US:     P -&gt; Sigma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Exotic / held-out (frozen library):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Ghost imaging: M -&gt; Sigma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THz-TDS: C -&gt; D_coh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Compton: M -&gt; R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DOT:    M -&gt; R o P o R -&gt; D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Median: 3 nodes, depth 3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All e_img &lt; 0.01 (1% relative error)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11/32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Basis-Growth Saturation: K=11 Suffices for N=170</a:t>
            </a:r>
          </a:p>
        </p:txBody>
      </p:sp>
      <p:pic>
        <p:nvPicPr>
          <p:cNvPr id="4" name="Picture 3" descr="fig9_basis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K=11 at N=35 modalities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No new primitive needed for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next 135 modalities!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Including particle-beam probes: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Neutron CT, Proton CT,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Muon tomography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--&gt; 0 new primitives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Consistent with theorem: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Once all 6 physics-stage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families are covered,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basis is complete.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New modality = new combination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of existing primitives.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12/32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A90D9"/>
                </a:solidFill>
                <a:latin typeface="Calibri"/>
              </a:defRPr>
            </a:pPr>
            <a:r>
              <a:t>THEOREM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Triad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6B6B"/>
                </a:solidFill>
                <a:latin typeface="Calibri"/>
              </a:defRPr>
            </a:pPr>
            <a:r>
              <a:t>Every reconstruction failure has exactly 3 independent root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13/32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Three Gates: Exhaustive Failure Decomposition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E0EE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90D9"/>
                </a:solidFill>
                <a:latin typeface="Calibri"/>
              </a:defRPr>
            </a:pPr>
            <a:r>
              <a:t>Gate 1: Recoverability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Is enough information captured?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Compression ratio gamma = m/n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Null space --&gt; lost forever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Fix: more measurements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Lifecycle: DESIGN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188720"/>
            <a:ext cx="3474720" cy="2286000"/>
          </a:xfrm>
          <a:prstGeom prst="roundRect">
            <a:avLst/>
          </a:prstGeom>
          <a:solidFill>
            <a:srgbClr val="FAF0E0"/>
          </a:solidFill>
          <a:ln>
            <a:solidFill>
              <a:srgbClr val="E8A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A838"/>
                </a:solidFill>
                <a:latin typeface="Calibri"/>
              </a:defRPr>
            </a:pPr>
            <a:r>
              <a:t>Gate 2: Carrier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Is the SNR sufficient?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Shot noise, thermal, T1/T2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Noise corrupts information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Fix: source/detector upgrade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Lifecycle: DESIGN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188720"/>
            <a:ext cx="3474720" cy="2286000"/>
          </a:xfrm>
          <a:prstGeom prst="roundRect">
            <a:avLst/>
          </a:prstGeom>
          <a:solidFill>
            <a:srgbClr val="FAE0E0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4A4A"/>
                </a:solidFill>
                <a:latin typeface="Calibri"/>
              </a:defRPr>
            </a:pPr>
            <a:r>
              <a:t>Gate 3: Operator Mismatch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7373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Does H_nom match H_true?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Misalignment, drift, model error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Solver solves wrong problem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Fix: calibrate the operator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Lifecycle: DEPLOYMENT stage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39"/>
            <a:ext cx="11338560" cy="914400"/>
          </a:xfrm>
          <a:prstGeom prst="roundRect">
            <a:avLst/>
          </a:prstGeom>
          <a:solidFill>
            <a:srgbClr val="F8F8FF"/>
          </a:solidFill>
          <a:ln>
            <a:solidFill>
              <a:srgbClr val="2E5F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MSE  &lt;=  MSE^(G1) + MSE^(G2) + MSE^(G3)    (exhaustive, no residual term)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6320"/>
            <a:ext cx="11338560" cy="1645920"/>
          </a:xfrm>
          <a:prstGeom prst="roundRect">
            <a:avLst/>
          </a:prstGeom>
          <a:solidFill>
            <a:srgbClr val="E8FEE8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D9E3F"/>
                </a:solidFill>
                <a:latin typeface="Calibri"/>
              </a:defRPr>
            </a:pPr>
            <a:r>
              <a:t>Lifecycle Prediction (confirmed: 14/14 configurations)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Design stage: Gates 1 &amp; 2 are optimized (sampling geometry, carrier selection)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Deployment stage: Gate 3 (mismatch) is the residual bottleneck --- this is why algorithms fail!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The Triad tells you WHERE the dB are hiding, so effort targets the largest marginal return.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14/32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3: Triad Decomposition Validated Across All Carriers</a:t>
            </a:r>
          </a:p>
        </p:txBody>
      </p:sp>
      <p:pic>
        <p:nvPicPr>
          <p:cNvPr id="4" name="Picture 3" descr="fig3_tri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15/32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Four-Scenario Evaluation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Scenario I  (Ideal):     y = H_true * x,  reconstruct with H_true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   --&gt; Oracle upper bound. Best achievable quality.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Scenario II (Mismatch):  y = H_true * x,  reconstruct with H_nom  (H_nom != H_true)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   --&gt; Standard deployment condition. The model is WRONG.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Scenario III (Oracle):   Same y as Sc. II, reconstruct with H_true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   --&gt; Correction ceiling. What's achievable if you knew the truth.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Scenario IV (Corrected): Same y as Sc. II, reconstruct with H_hat (estimated)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   --&gt; Our contribution. Autonomous calibration.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Recovery ratio:  rho = (PSNR_IV - PSNR_II) / (PSNR_I - PSNR_II)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rho = 0: calibration useless.  rho = 1: fully closes the gap.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This protocol applies identically across ALL modalities and carriers.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16/32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A90D9"/>
                </a:solidFill>
                <a:latin typeface="Calibri"/>
              </a:defRPr>
            </a:pPr>
            <a:r>
              <a:t>EXISTING INSTRUMENTS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Application 1: DIAGNOSE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6B6B"/>
                </a:solidFill>
                <a:latin typeface="Calibri"/>
              </a:defRPr>
            </a:pPr>
            <a:r>
              <a:t>Diagnose the dominant failure gate before attempting any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17/32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Validation: Root-Cause Diagnosis Across 12 Modalities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For every imaging configuration, the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Triad produces a TriadReport: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dominant_gate (enum)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evidence_scores (3 floats)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confidence_interval (95% CI)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recommended_action (string)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parameter_sensitivities (dict)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Result: Gate 3 dominant in 14/14!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Falsifiable predictions confirmed: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SPC: G1 at &lt;5% compression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MRI: G2 at noise sigma &gt; 1%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CT: pure G3 even at extremes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US: G2-immune at 50% RF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Cross-over thresholds: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SPC: G1&lt;-&gt;G3 at ~5% compression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Below: more data helps most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Above: fix the model instead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MRI: G2&lt;-&gt;G3 at sigma ~1%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Sharpest transition in framework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G3 dominated -&gt; G2 dominated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in one order of magnitude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These thresholds convert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'is this design adequate?'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into quantitative pass/fail.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8/12 predictions confirmed by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simulation or hardware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18/32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A90D9"/>
                </a:solidFill>
                <a:latin typeface="Calibri"/>
              </a:defRPr>
            </a:pPr>
            <a:r>
              <a:t>EXISTING INSTRUMENTS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Application 2: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6B6B"/>
                </a:solidFill>
                <a:latin typeface="Calibri"/>
              </a:defRPr>
            </a:pPr>
            <a:r>
              <a:t>Fix the operator, not the solver --- any solver benefits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19/32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Solver-Agnostic Operator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Key insight: correct the forward model parameters, not the solver weights.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Two-stage correction pipeline (when Gate 3 is dominant):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Algorithm 1: Hierarchical Beam Search (~300s/scene)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1D sweeps -&gt; 3D beam search -&gt; 2D beam search -&gt; coordinate descent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Accuracy: +/-0.1-0.2 pixels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Algorithm 2: Joint Gradient Refinement (~3200s/scene)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Differentiable forward model + Adam optimizer + multi-start restarts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Accuracy: +/-0.05-0.1 pixels (3-5x improvement over Alg. 1)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Critical property: SOLVER-AGNOSTIC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The corrected operator H_hat benefits ANY downstream solver: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TwIST, GAP-TV, DGSMP, MST-L, CST-L, HDNet, EfficientSCI...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ALL improve without retraining!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Better solvers + better operators = compounding gains.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20/32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4: Correction Results Across 14 Configurations, 5 Carriers</a:t>
            </a:r>
          </a:p>
        </p:txBody>
      </p:sp>
      <p:pic>
        <p:nvPicPr>
          <p:cNvPr id="4" name="Picture 3" descr="fig4_correc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18872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Optical photons (6 modalities):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CASSI:  +6.68 dB (10 scenes, MST-L)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CACTI:  +4.37 dB (6 videos)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SPC:    +2.31 dB (11 images)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Lensless: +13.9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Holography: +7.41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  Fluorescence: +0.80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X-ray: CT +3.10 dB, CBCT +5.0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Electrons: Ptycho +6.77, Cryo +2.4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Spins: MRI +2.5 dB (ESPIRiT adopted)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Acoustic: Ultrasound +1.8 dB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Gate 3 dominant in ALL 14/14!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Recovery ratio: 0.82-1.00</a:t>
            </a:r>
          </a:p>
          <a:p>
            <a:pPr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(82-100% of oracle ceiling)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21/32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CASSI Deep Dive: Prof. Yuan's SCI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CASSI DAG:  M(mask) -&gt; W(dispersion) -&gt; Sigma(spectral sum) -&gt; D(detect)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5-parameter mismatch: (dx, dy, theta, a1, alpha)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True: dx=0.5 px, dy=0.3 px, theta=0.1 deg, a1=2.02, alpha=0.15 deg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What happens when H_nom != H_true?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A sub-pixel mask shift collapses ALL solvers to ~21 dB (from 24-35 dB)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MST-L drops by 13.98 +/- 0.62 dB --- catastrophic and silent!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Correction recovers quality WITHOUT retraining any solver: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GAP-TV:  Sc.II = 25.39 -&gt; Sc.IV = 26.15 dB  (rho = 0.85)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MST-L:   Sc.II = 21.05 -&gt; Sc.IV = 27.73 dB  (rho = 0.46 for 5-param)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Key finding for SCI community: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The solver with highest ideal PSNR (MST-L) is MOST sensitive to mismatch!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Solver quality and model fidelity are complementary, not redundant.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Real-data validation: TSA scenes (5 scenes, 660x660, 28 bands) confirmed.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22/32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5: CASSI Results + Hardware Validation</a:t>
            </a:r>
          </a:p>
        </p:txBody>
      </p:sp>
      <p:pic>
        <p:nvPicPr>
          <p:cNvPr id="4" name="Picture 3" descr="fig5_deepd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5029200"/>
          </a:xfrm>
          <a:prstGeom prst="rect">
            <a:avLst/>
          </a:prstGeom>
        </p:spPr>
      </p:pic>
      <p:pic>
        <p:nvPicPr>
          <p:cNvPr id="5" name="Picture 4" descr="fig5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66928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23/32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8: Visual Comparison Across All Scenarios</a:t>
            </a:r>
          </a:p>
        </p:txBody>
      </p:sp>
      <p:pic>
        <p:nvPicPr>
          <p:cNvPr id="4" name="Picture 3" descr="fig8_visu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24/32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Figure 6: Cross-Carrier Zero-Shot Generalization</a:t>
            </a:r>
          </a:p>
        </p:txBody>
      </p:sp>
      <p:pic>
        <p:nvPicPr>
          <p:cNvPr id="4" name="Picture 3" descr="fig6_zero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25/32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D9E3F"/>
                </a:solidFill>
                <a:latin typeface="Calibri"/>
              </a:defRPr>
            </a:pPr>
            <a:r>
              <a:t>APPLICATION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Design NEW Imaging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B6B6B"/>
                </a:solidFill>
                <a:latin typeface="Calibri"/>
              </a:defRPr>
            </a:pPr>
            <a:r>
              <a:t>The 11 primitives provide a compositional design language.</a:t>
            </a:r>
            <a:br/>
            <a:r>
              <a:t>The 3 gates provide quantitative design specifications.</a:t>
            </a:r>
            <a:br/>
            <a:r>
              <a:t>Evaluate a candidate system BEFORE any hardware is fabricated.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26/32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Gates as Quantitative Design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The three gates, when INVERTED, yield design constraints: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Gate 1 --&gt; Minimum measurement budget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Given target signal class + quality, what's the minimum compression ratio?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Example: SPC needs gamma &gt;= 5% (below: -7.1 dB irrecoverable loss)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Gate 2 --&gt; Minimum carrier budget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What's the minimum photon flux / SNR for the solver to work?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Example: MRI needs noise sigma &lt; 1% (below: -11.7 dB, correction fails)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Gate 3 --&gt; Maximum tolerable calibration error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How precisely must you calibrate for &lt; 1 dB degradation?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Example: CT center-of-rotation must be within ~2 px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Example: CASSI mask alignment must be within &lt; 0.25 px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These convert 'is this design adequate?' into 3 quantitative pass/fail tests.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All derived from the primitive DAG --- no hardware needed!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27/32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Design by Primitive Composition: A 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Task: Design a snapshot compressive video imager (like CACTI).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Step 1: Compose primitives from the library: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Select:  Modulate M (binary coded mask)  +  Accumulate Sigma (temporal sum)  +  Detect D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DAG:     M -&gt; Sigma -&gt; D    (3 nodes, depth 3)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Step 2: Evaluate Gate 1 (Recoverability):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At compression B=8, measurement matrix retains sufficient rank for ~27 dB (GAP-TV)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Step 3: Evaluate Gate 2 (Carrier Budget):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Minimum ~5,000 peak photons per compressed frame for solver to work above noise floor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Step 4: Evaluate Gate 3 (Calibration Tolerance):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Mask alignment is dominant sensitivity: sub-pixel shift causes 13 dB degradation!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Design spec: mask fabrication tolerance &lt; 0.25 px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Output: Complete design specification BEFORE building anything!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Min compression ratio, min photon budget, max alignment error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All derived from the primitive DAG + gate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28/32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Systematic Design Exploration: 170-Modality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The registry enables purpose-conditioned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system selection: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Input: task requirements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Target resolution, bandwidth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Budget, sample constraints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Spectral range, frame rate...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Output: ranked feasible architectures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Each with 3-gate design specs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Example: spectral imager for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precision agriculture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- 400-1000 nm, &gt;= 20 bands,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&gt;= 30 fps, field-portable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Registry returns candidates: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1. CASSI (coded aperture)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 G1: min spatial*spectral density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 G2: min illumination for 30fps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 G3: mask alignment &lt; 0.25 px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2. Mosaic filter sensor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 G3: filter registration accuracy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3. Filter wheel system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     G1: temporal sampling limit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Gate-based specs enable quantitative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comparison across architecturally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distinct systems on common footing!</a:t>
            </a: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From TASK -&gt; HARDWARE TOLERANCES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29/32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This Changes How We Design Imaging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Before: imaging system design is an open-ended search.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Intuition-driven, modality-specific, no cross-domain comparison.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After: imaging system design is a COMBINATORIAL OPTIMIZATION over 11 typed primitives.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Select primitives, connect DAG, evaluate 3 gates --&gt; done.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Directly relevant to: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Multi-scale camera architectures (Brady et al. 2012):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Dozens of sub-apertures must be jointly calibrated --&gt; Gate 3 tolerance analysis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- Snapshot compressive imaging systems (Yuan et al. 2021):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  Measurement operator encodes the entire recovery problem --&gt; Gate 1 + Gate 3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For AI Scientists: not open-ended function approximation, but a FINITE search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  over 11 known primitives. Identify which subset is active + estimate parameters.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Broader question: do other measurement domains (seismology, radio astronomy,</a:t>
            </a:r>
          </a:p>
          <a:p>
            <a:pPr>
              <a:spcAft>
                <a:spcPts val="6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particle physics) admit similarly compact grammars?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30/32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5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Summary: The Universal Grammar of Computational Imaging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474720" cy="2103120"/>
          </a:xfrm>
          <a:prstGeom prst="roundRect">
            <a:avLst/>
          </a:prstGeom>
          <a:solidFill>
            <a:srgbClr val="E0EEFA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A90D9"/>
                </a:solidFill>
                <a:latin typeface="Calibri"/>
              </a:defRPr>
            </a:pPr>
            <a:r>
              <a:t>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Triad diagnoses root cause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Gate 3 dominant 14/14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Cross-over thresholds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8/12 predictions confirmed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474720" cy="2103120"/>
          </a:xfrm>
          <a:prstGeom prst="roundRect">
            <a:avLst/>
          </a:prstGeom>
          <a:solidFill>
            <a:srgbClr val="FAE0E0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4A4A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Solver-agnostic correction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+0.8 to +13.9 dB recovery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12 modalities, 5 carriers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82-100% of oracle ceiling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280160"/>
            <a:ext cx="3474720" cy="2103120"/>
          </a:xfrm>
          <a:prstGeom prst="roundRect">
            <a:avLst/>
          </a:prstGeom>
          <a:solidFill>
            <a:srgbClr val="E0FAE0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D9E3F"/>
                </a:solidFill>
                <a:latin typeface="Calibri"/>
              </a:defRPr>
            </a:pPr>
            <a:r>
              <a:t>DESIGN 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73736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Compose from 11 primitives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3 gates = design specs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Evaluate before fabrication</a:t>
            </a:r>
          </a:p>
          <a:p>
            <a:pPr>
              <a:spcAft>
                <a:spcPts val="2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170-modality registry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0F0F8"/>
          </a:solidFill>
          <a:ln>
            <a:solidFill>
              <a:srgbClr val="2E5F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11 primitives --- sufficient and minimal basis for every imaging forward model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3 gates --- exhaustive failure decomposition: MSE = MSE_G1 + MSE_G2 + MSE_G3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170 modality templates across 5 carrier families (+ particle beams)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12 modalities with full 4-scenario validation (2 Nobel Prize techniques, 3 clinical instruments)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+0.8 to +13.9 dB recovery on deployed instruments through operator correction alone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Solver-agnostic: one calibration benefits ALL downstream solvers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NEW: compositional design language turns system design into constrained DAG optimization</a:t>
            </a: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1A1A2E"/>
                </a:solidFill>
                <a:latin typeface="Calibri"/>
              </a:defRPr>
            </a:pPr>
            <a:r>
              <a:t>The first universal grammar for validating, correcting, and designing computational imaging systems.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31/32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4A90D9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2743200" cy="640080"/>
          </a:xfrm>
          <a:prstGeom prst="roundRect">
            <a:avLst/>
          </a:prstGeom>
          <a:solidFill>
            <a:srgbClr val="1E3A5F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703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A90D9"/>
                </a:solidFill>
                <a:latin typeface="Calibri"/>
              </a:defRPr>
            </a:pPr>
            <a:r>
              <a:t>DIAGNOSE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3657600"/>
            <a:ext cx="2743200" cy="640080"/>
          </a:xfrm>
          <a:prstGeom prst="roundRect">
            <a:avLst/>
          </a:prstGeom>
          <a:solidFill>
            <a:srgbClr val="3A1E1E"/>
          </a:solidFill>
          <a:ln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3703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4A4A"/>
                </a:solidFill>
                <a:latin typeface="Calibri"/>
              </a:defRPr>
            </a:pPr>
            <a:r>
              <a:t>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3657600"/>
            <a:ext cx="2743200" cy="640080"/>
          </a:xfrm>
          <a:prstGeom prst="roundRect">
            <a:avLst/>
          </a:prstGeom>
          <a:solidFill>
            <a:srgbClr val="1E3A1E"/>
          </a:solidFill>
          <a:ln>
            <a:solidFill>
              <a:srgbClr val="3D9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37033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D9E3F"/>
                </a:solidFill>
                <a:latin typeface="Calibri"/>
              </a:defRPr>
            </a:pPr>
            <a:r>
              <a:t>DESIGN NEW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6B6B"/>
                </a:solidFill>
                <a:latin typeface="Calibri"/>
              </a:defRPr>
            </a:pPr>
            <a:r>
              <a:t>Chengshuai Yang  |  integrityyang@gmail.com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6B6B"/>
                </a:solidFill>
                <a:latin typeface="Calibri"/>
              </a:defRPr>
            </a:pPr>
            <a:r>
              <a:t>github.com/integritynoble/Physics_World_Model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B6B6B"/>
                </a:solidFill>
                <a:latin typeface="Calibri"/>
              </a:defRPr>
            </a:pPr>
            <a:r>
              <a:t>Acknowledgments: Prof. David Brady (U. Arizona)  |  Prof. Xin Yuan (Westlake)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32/32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